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Korte intro: zelfstandige, multi-tenant SaaS-notificatiemodule voor OpenMRS die afspraakherinneringen stuurt via verschillende messaging providers. Meteen door.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Opbouw expliciet rond de beoordelingscriteria; we sluiten af met een live demo. ~15 sec.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Schets het SaaS-doel. Benoem dat poging 1 punten verloor op architectuur en betrouwbaarheid; nu is alles aantoonbaar. Bron: docs/Info/OpdrachtOpenMRS.md, CLAUDE.md.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Loop van buiten naar binnen door de C4-niveaus; sluit af met de integratiekeuze. Diagrammen: docs/C4-diagrammen/. Code: poller/OpenMrsAppointmentPoller.java.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Koppel elke FR aan een klasse. FR-1f/g/h tonen we live. Code in scheduler/ en util/; tests: ReminderSchedulerTest, ReminderDispatchJobTest, AppointmentEventConsumerTest.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Multi-tenancy is het hart. Screenshot de ThreadLocal + finally-clear in tenant/. NFR-4 onderbouwd in ADR-003.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Vertel het 'defense in depth'-verhaal. Code: security/AesEncryptionService.java, util/MessageHelper.mask(), scheduler/DataRetentionJob.java. Audit: docs/Security/SECURITY-AUDIT.md.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Maak 'HL7-aansluiting' concreet in 5 eigenschappen (6a-e). Screenshot de SOAP-envelope (adapter/legacylink) of de async poll (adapter/asyncflow).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VERDEDIG-SLIDE: opdracht noemt OpenTelemetry; wij motiveren Micrometer+Prometheus+Loki in ADR-010. Bewuste afweging, geen omissie. Screenshot het Grafana-dashboard.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20-PUNTEN-HEFBOOM. Neem de tijd; het criterium telt, niet alleen de keuze. Behandel ADR-003 en ADR-005 grondig. Bron: docs/ADR's/.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Sterkste verhaal = Open-Closed, afgedwongen door NotificationProviderContractTest. Screenshot adapter/NotificationProvider.java.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Benadruk: uitbreiden is méér dan een klasse. Noem idempotentie als uitzonderingsscenario. Demo in docs/Tests/testrapport.md §4. ADR-006.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Loop FM-9 helemaal door: risico → outbox → code → test → reductie. Screenshot de risicomatrix of de Excel. Code: outbox/OutboxService.writePending().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Koppel elke maatregel aan een FMEA-failure-mode — toont dat de FMEA in code zit. Code: scheduler/FailedNotificationRetryJob.java, topology.json.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20-PUNTEN-HEFBOOM betrouwbaarheid: concrete verbeterstap met cijfer. Vertel het bug-verhaal (0 → 518 rijen). Bron: PERFORMANCE-RAPPORT.md §7; code: outbox/OutboxService.java.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20-PUNTEN-HEFBOOM testen: benadruk additionele methodieken. Noem zélf één zwakte + verbeterpunt. Coverage niet op slide (zie draaiboek blok 4). Bron: docs/Tests/testrapport.md.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Niet opsommen maar reflecteren (waarom + waarde/kosten). Bron: realisatielogboek D4a.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Belangrijk voor CGI-reflectie. Eén concreet voorbeeld (bv. ontbrekend finally-blok handmatig toegevoegd). Bron: realisatielogboek D4b.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Spreek de stappen uit terwijl je ze doet; verklaar de ~2 min poller-wachttijd met architectuur-uitleg. Volledig script: docs/Presentatie/demo-runbook.md. Test vooraf!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Sluit de cirkel naar slide 3: 'we beloofden aantoonbaarheid — dit is het bewijs.' Zeg expliciet dat je minimaal de 'Goed'-kolom haalt. Bron: traceerbaarheidsmatrix.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Verwijs vragen naar matrix-rij + ADR + test. Bereid Q&amp;A voor: OpenTelemetry, polling-vs-events, multi-tenancy, coverage (zie draaiboek §7).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91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BeunMRS — Multi-tenant SaaS notificatiemodule voor OpenMRS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C9D6EA"/>
                </a:solidFill>
                <a:latin typeface="Calibri"/>
              </a:rPr>
              <a:t>Afspraakherinneringen via instelbare messaging providers · HL7/FHIR-context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 i="0">
                <a:solidFill>
                  <a:srgbClr val="FFFFFF"/>
                </a:solidFill>
                <a:latin typeface="Calibri"/>
              </a:rPr>
              <a:t>Wassim Balouda · Storm Kroonen · Nick de Rooij · Thijs van de Veen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9FB3D1"/>
                </a:solidFill>
                <a:latin typeface="Calibri"/>
              </a:rPr>
              <a:t>Applicatie Integratie (LU1) · Klas B7 · 1 juli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2E75B6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Wat we vandaag laten zien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219456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78992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1. Architectuurbeschrijving &amp; bedrijfsprocessen — alle FR + NFR + alternatieven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2. Duurzaam ontwerp — ontwerpprincipes (SOLID), uitbreidbaarheid, multi-tenancy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3. Betrouwbaarheid — FMEA, maatregelen, performance &amp; monitoring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4. Testresultaten — per soort, 129 tests groen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5. Realisatieverantwoording — tools + AI met behoud van zelfredzaamheid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6. Live demonstratie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2E75B6"/>
                </a:solidFill>
                <a:latin typeface="Calibri"/>
              </a:rPr>
              <a:t>INTRODUCTIE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Het probleem &amp; onze oplossing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219456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9436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Probleem: gemiste afspraken; messaging-platformen versnipperd per regio.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Doel: zelfstandige SaaS — herinneringen sturen zonder eigen infrastructuur.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Per tenant: eigen OpenMRS-koppeling, sleutels, één provider.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Rode draad: élke eis gekoppeld aan ADR, code én test.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828800"/>
            <a:ext cx="4709160" cy="4206240"/>
          </a:xfrm>
          <a:prstGeom prst="rect">
            <a:avLst/>
          </a:prstGeom>
          <a:solidFill>
            <a:srgbClr val="ECF1F8"/>
          </a:solidFill>
          <a:ln w="15875">
            <a:solidFill>
              <a:srgbClr val="A9C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400" b="1" i="0">
                <a:solidFill>
                  <a:srgbClr val="2E75B6"/>
                </a:solidFill>
                <a:latin typeface="Calibri"/>
              </a:rPr>
              <a:t>RUIMTE VOOR AFBEELDING</a:t>
            </a:r>
          </a:p>
          <a:p>
            <a:pPr algn="ctr">
              <a:spcBef>
                <a:spcPts val="800"/>
              </a:spcBef>
            </a:pPr>
            <a:r>
              <a:rPr sz="1250" b="0" i="1">
                <a:solidFill>
                  <a:srgbClr val="6B7280"/>
                </a:solidFill>
                <a:latin typeface="Calibri"/>
              </a:rPr>
              <a:t>Architectuur-teaser of OpenMRS-logo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2E75B6"/>
                </a:solidFill>
                <a:latin typeface="Calibri"/>
              </a:rPr>
              <a:t>1 · ARCHITECTUUR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Architectuuroverzicht (C4)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219456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9436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L1 — Systeemcontext: OpenMRS → onze module → providers.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L2 — Containers: poller, RabbitMQ, service, PostgreSQL, NGINX, Grafana-stack.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L3 — Componenten: poller · consumer · scheduler · outbox · retry · retentie.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Integratie: REST v1 polling (2 min) + RabbitMQ-buffer (ADR-003).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828800"/>
            <a:ext cx="4709160" cy="4206240"/>
          </a:xfrm>
          <a:prstGeom prst="rect">
            <a:avLst/>
          </a:prstGeom>
          <a:solidFill>
            <a:srgbClr val="ECF1F8"/>
          </a:solidFill>
          <a:ln w="15875">
            <a:solidFill>
              <a:srgbClr val="A9C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400" b="1" i="0">
                <a:solidFill>
                  <a:srgbClr val="2E75B6"/>
                </a:solidFill>
                <a:latin typeface="Calibri"/>
              </a:rPr>
              <a:t>RUIMTE VOOR AFBEELDING</a:t>
            </a:r>
          </a:p>
          <a:p>
            <a:pPr algn="ctr">
              <a:spcBef>
                <a:spcPts val="800"/>
              </a:spcBef>
            </a:pPr>
            <a:r>
              <a:rPr sz="1250" b="0" i="1">
                <a:solidFill>
                  <a:srgbClr val="6B7280"/>
                </a:solidFill>
                <a:latin typeface="Calibri"/>
              </a:rPr>
              <a:t>C4-diagram L1/L2/L3 — export uit docs/C4-diagrammen/ (.drawio)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2E75B6"/>
                </a:solidFill>
                <a:latin typeface="Calibri"/>
              </a:rPr>
              <a:t>1 · ARCHITECTUUR — BEDRIJFSPROCESSEN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Functionele eisen (FR)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219456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9436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FR-1a/b — 24u + 1u vóór de afspraak (ReminderScheduler).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FR-1c/d/e — datum/tijd, locatie, instructies (MessageHelper).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FR-1f — skip reeds-aangevangen afspraak (DispatchJob).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FR-1g/h — annulering stopt · wijziging past aan (EventConsumer).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FR-2 logging · FR-3 één provider per organisatie.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828800"/>
            <a:ext cx="4709160" cy="4206240"/>
          </a:xfrm>
          <a:prstGeom prst="rect">
            <a:avLst/>
          </a:prstGeom>
          <a:solidFill>
            <a:srgbClr val="ECF1F8"/>
          </a:solidFill>
          <a:ln w="15875">
            <a:solidFill>
              <a:srgbClr val="A9C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400" b="1" i="0">
                <a:solidFill>
                  <a:srgbClr val="2E75B6"/>
                </a:solidFill>
                <a:latin typeface="Calibri"/>
              </a:rPr>
              <a:t>RUIMTE VOOR AFBEELDING</a:t>
            </a:r>
          </a:p>
          <a:p>
            <a:pPr algn="ctr">
              <a:spcBef>
                <a:spcPts val="800"/>
              </a:spcBef>
            </a:pPr>
            <a:r>
              <a:rPr sz="1250" b="0" i="1">
                <a:solidFill>
                  <a:srgbClr val="6B7280"/>
                </a:solidFill>
                <a:latin typeface="Calibri"/>
              </a:rPr>
              <a:t>Code: ReminderScheduler.scheduleReminders() of MessageHelper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2E75B6"/>
                </a:solidFill>
                <a:latin typeface="Calibri"/>
              </a:rPr>
              <a:t>1 · ARCHITECTUUR — NFR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Integratie &amp; platformonafhankelijkheid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219456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9436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NFR-1 — Multi-tenant: TenantContext, queries gefilterd op tenant_id.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NFR-2 — Passende, gedocumenteerde, beveiligde integratie.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NFR-4 — OpenMRS 2.7.x: alleen /ws/rest/v1/ (2.x én 3.x).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NFR-12 — Uitbreidbaar naar andere modules via routing keys.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828800"/>
            <a:ext cx="4709160" cy="4206240"/>
          </a:xfrm>
          <a:prstGeom prst="rect">
            <a:avLst/>
          </a:prstGeom>
          <a:solidFill>
            <a:srgbClr val="ECF1F8"/>
          </a:solidFill>
          <a:ln w="15875">
            <a:solidFill>
              <a:srgbClr val="A9C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400" b="1" i="0">
                <a:solidFill>
                  <a:srgbClr val="2E75B6"/>
                </a:solidFill>
                <a:latin typeface="Calibri"/>
              </a:rPr>
              <a:t>RUIMTE VOOR AFBEELDING</a:t>
            </a:r>
          </a:p>
          <a:p>
            <a:pPr algn="ctr">
              <a:spcBef>
                <a:spcPts val="800"/>
              </a:spcBef>
            </a:pPr>
            <a:r>
              <a:rPr sz="1250" b="0" i="1">
                <a:solidFill>
                  <a:srgbClr val="6B7280"/>
                </a:solidFill>
                <a:latin typeface="Calibri"/>
              </a:rPr>
              <a:t>Code: TenantContext + TenantApiKeyFilter (finally-clear)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2E75B6"/>
                </a:solidFill>
                <a:latin typeface="Calibri"/>
              </a:rPr>
              <a:t>1 · ARCHITECTUUR — NFR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Beveiliging &amp; privacy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219456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9436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NFR-5a AES-256-GCM · 5b TLS 1.3 · 5c geen secrets in code · 5d PII gemaskeerd.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NFR-10 — patiëntgegevens verwijderd na 14 dagen.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NFR-11 — max. 1 jaar PII-vrije meta-informatie.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Defense in depth: rust + transport + logs + retentie.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828800"/>
            <a:ext cx="4709160" cy="4206240"/>
          </a:xfrm>
          <a:prstGeom prst="rect">
            <a:avLst/>
          </a:prstGeom>
          <a:solidFill>
            <a:srgbClr val="ECF1F8"/>
          </a:solidFill>
          <a:ln w="15875">
            <a:solidFill>
              <a:srgbClr val="A9C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400" b="1" i="0">
                <a:solidFill>
                  <a:srgbClr val="2E75B6"/>
                </a:solidFill>
                <a:latin typeface="Calibri"/>
              </a:rPr>
              <a:t>RUIMTE VOOR AFBEELDING</a:t>
            </a:r>
          </a:p>
          <a:p>
            <a:pPr algn="ctr">
              <a:spcBef>
                <a:spcPts val="800"/>
              </a:spcBef>
            </a:pPr>
            <a:r>
              <a:rPr sz="1250" b="0" i="1">
                <a:solidFill>
                  <a:srgbClr val="6B7280"/>
                </a:solidFill>
                <a:latin typeface="Calibri"/>
              </a:rPr>
              <a:t>Code: AesEncryptionService.encrypt()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2E75B6"/>
                </a:solidFill>
                <a:latin typeface="Calibri"/>
              </a:rPr>
              <a:t>1 · ARCHITECTUUR — NFR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Messaging &amp; berichtverwerking (HL7)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219456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9436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NFR-3 — 4 providers: SwiftSend · SecurePost · LegacyLink · AsyncFlow.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NFR-6 — HL7: validatie, ack, logging, transformatie, queueing+retry.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NFR-7 — zelfstandig + fallback (outbox, circuit breaker, reconciler).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Elke provider transformeert het event naar eigen formaat.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828800"/>
            <a:ext cx="4709160" cy="4206240"/>
          </a:xfrm>
          <a:prstGeom prst="rect">
            <a:avLst/>
          </a:prstGeom>
          <a:solidFill>
            <a:srgbClr val="ECF1F8"/>
          </a:solidFill>
          <a:ln w="15875">
            <a:solidFill>
              <a:srgbClr val="A9C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400" b="1" i="0">
                <a:solidFill>
                  <a:srgbClr val="2E75B6"/>
                </a:solidFill>
                <a:latin typeface="Calibri"/>
              </a:rPr>
              <a:t>RUIMTE VOOR AFBEELDING</a:t>
            </a:r>
          </a:p>
          <a:p>
            <a:pPr algn="ctr">
              <a:spcBef>
                <a:spcPts val="800"/>
              </a:spcBef>
            </a:pPr>
            <a:r>
              <a:rPr sz="1250" b="0" i="1">
                <a:solidFill>
                  <a:srgbClr val="6B7280"/>
                </a:solidFill>
                <a:latin typeface="Calibri"/>
              </a:rPr>
              <a:t>Code: LegacyLink SOAP-envelope of AsyncFlow twee-fasen poll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2E75B6"/>
                </a:solidFill>
                <a:latin typeface="Calibri"/>
              </a:rPr>
              <a:t>1 · ARCHITECTUUR — NFR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Observability &amp; internationaal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219456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9436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NFR-9a — Micrometer + Prometheus + Loki + Grafana 'beunmrs-perf'.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NFR-9b — géén OpenTelemetry: bewust, gemotiveerd in ADR-010.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NFR-8 — UTF-8 end-to-end (StandardCharsets.UTF_8).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NFR-13 — tijdzones per tenant (UTC opgeslagen, conversie bij weergave).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828800"/>
            <a:ext cx="4709160" cy="4206240"/>
          </a:xfrm>
          <a:prstGeom prst="rect">
            <a:avLst/>
          </a:prstGeom>
          <a:solidFill>
            <a:srgbClr val="ECF1F8"/>
          </a:solidFill>
          <a:ln w="15875">
            <a:solidFill>
              <a:srgbClr val="A9C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400" b="1" i="0">
                <a:solidFill>
                  <a:srgbClr val="2E75B6"/>
                </a:solidFill>
                <a:latin typeface="Calibri"/>
              </a:rPr>
              <a:t>RUIMTE VOOR AFBEELDING</a:t>
            </a:r>
          </a:p>
          <a:p>
            <a:pPr algn="ctr">
              <a:spcBef>
                <a:spcPts val="800"/>
              </a:spcBef>
            </a:pPr>
            <a:r>
              <a:rPr sz="1250" b="0" i="1">
                <a:solidFill>
                  <a:srgbClr val="6B7280"/>
                </a:solidFill>
                <a:latin typeface="Calibri"/>
              </a:rPr>
              <a:t>Grafana-dashboard 'beunmrs-perf'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2E75B6"/>
                </a:solidFill>
                <a:latin typeface="Calibri"/>
              </a:rPr>
              <a:t>1 · ARCHITECTUUR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Overwogen alternatieven — mét afwijscriteria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219456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9436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ADR-001 — zelfstandig vs ingebouwd (niet multi-tenant, vast aan releases).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ADR-003 — polling vs webhook (events weg bij downtime), AtomFeed (Bahmni), FHIR2 (HAPI-0302).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ADR-005 — shared-schema vs database-per-tenant (beheer/kosten).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ADR-010 — Micrometer vs OpenTelemetry (overhead).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828800"/>
            <a:ext cx="4709160" cy="4206240"/>
          </a:xfrm>
          <a:prstGeom prst="rect">
            <a:avLst/>
          </a:prstGeom>
          <a:solidFill>
            <a:srgbClr val="ECF1F8"/>
          </a:solidFill>
          <a:ln w="15875">
            <a:solidFill>
              <a:srgbClr val="A9C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400" b="1" i="0">
                <a:solidFill>
                  <a:srgbClr val="2E75B6"/>
                </a:solidFill>
                <a:latin typeface="Calibri"/>
              </a:rPr>
              <a:t>RUIMTE VOOR AFBEELDING</a:t>
            </a:r>
          </a:p>
          <a:p>
            <a:pPr algn="ctr">
              <a:spcBef>
                <a:spcPts val="800"/>
              </a:spcBef>
            </a:pPr>
            <a:r>
              <a:rPr sz="1250" b="0" i="1">
                <a:solidFill>
                  <a:srgbClr val="6B7280"/>
                </a:solidFill>
                <a:latin typeface="Calibri"/>
              </a:rPr>
              <a:t>Screenshot: ADR-003 'Overwogen alternatieven'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2E75B6"/>
                </a:solidFill>
                <a:latin typeface="Calibri"/>
              </a:rPr>
              <a:t>2 · DUURZAAM ONTWERP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Ontwerpprincipes (SOLID)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219456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9436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Open-Closed — nieuwe provider = nieuwe klasse, nul wijzigingen.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Dependency Inversion — dispatcher kent alleen de interface.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Single Responsibility — poller/scheduler/outbox/... elk één taak.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Liskov + Interface Segregation — uitwisselbaar, smalle interface.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828800"/>
            <a:ext cx="4709160" cy="4206240"/>
          </a:xfrm>
          <a:prstGeom prst="rect">
            <a:avLst/>
          </a:prstGeom>
          <a:solidFill>
            <a:srgbClr val="ECF1F8"/>
          </a:solidFill>
          <a:ln w="15875">
            <a:solidFill>
              <a:srgbClr val="A9C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400" b="1" i="0">
                <a:solidFill>
                  <a:srgbClr val="2E75B6"/>
                </a:solidFill>
                <a:latin typeface="Calibri"/>
              </a:rPr>
              <a:t>RUIMTE VOOR AFBEELDING</a:t>
            </a:r>
          </a:p>
          <a:p>
            <a:pPr algn="ctr">
              <a:spcBef>
                <a:spcPts val="800"/>
              </a:spcBef>
            </a:pPr>
            <a:r>
              <a:rPr sz="1250" b="0" i="1">
                <a:solidFill>
                  <a:srgbClr val="6B7280"/>
                </a:solidFill>
                <a:latin typeface="Calibri"/>
              </a:rPr>
              <a:t>Code: NotificationProvider-interface (3 methodes)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2E75B6"/>
                </a:solidFill>
                <a:latin typeface="Calibri"/>
              </a:rPr>
              <a:t>2 · DUURZAAM ONTWERP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Uitbreidbaarheid &amp; uitzonderingen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219456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9436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Nieuwe provider = klasse + CHECK-constraint + validatie + credentials.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Contract-test bewaakt uniqueness, discoverability, schema.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Idempotentie: seen_appointments + ON CONFLICT — nooit dubbel.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Transactionele outbox + rollback bij partiële writes.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828800"/>
            <a:ext cx="4709160" cy="4206240"/>
          </a:xfrm>
          <a:prstGeom prst="rect">
            <a:avLst/>
          </a:prstGeom>
          <a:solidFill>
            <a:srgbClr val="ECF1F8"/>
          </a:solidFill>
          <a:ln w="15875">
            <a:solidFill>
              <a:srgbClr val="A9C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400" b="1" i="0">
                <a:solidFill>
                  <a:srgbClr val="2E75B6"/>
                </a:solidFill>
                <a:latin typeface="Calibri"/>
              </a:rPr>
              <a:t>RUIMTE VOOR AFBEELDING</a:t>
            </a:r>
          </a:p>
          <a:p>
            <a:pPr algn="ctr">
              <a:spcBef>
                <a:spcPts val="800"/>
              </a:spcBef>
            </a:pPr>
            <a:r>
              <a:rPr sz="1250" b="0" i="1">
                <a:solidFill>
                  <a:srgbClr val="6B7280"/>
                </a:solidFill>
                <a:latin typeface="Calibri"/>
              </a:rPr>
              <a:t>Code: ON CONFLICT DO NOTHING (OutboxService)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2E75B6"/>
                </a:solidFill>
                <a:latin typeface="Calibri"/>
              </a:rPr>
              <a:t>3 · BETROUWBAARHEID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FMEA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219456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9436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11 faalscenario's vooraf in kaart, elk met maatregel én test.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Voorbeeld FM-9: crash na DB-write, vóór publish.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Mitigatie: transactionele outbox (ADR-007).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Risicoreductie W×I: 10 → 1 (90%).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828800"/>
            <a:ext cx="4709160" cy="4206240"/>
          </a:xfrm>
          <a:prstGeom prst="rect">
            <a:avLst/>
          </a:prstGeom>
          <a:solidFill>
            <a:srgbClr val="ECF1F8"/>
          </a:solidFill>
          <a:ln w="15875">
            <a:solidFill>
              <a:srgbClr val="A9C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400" b="1" i="0">
                <a:solidFill>
                  <a:srgbClr val="2E75B6"/>
                </a:solidFill>
                <a:latin typeface="Calibri"/>
              </a:rPr>
              <a:t>RUIMTE VOOR AFBEELDING</a:t>
            </a:r>
          </a:p>
          <a:p>
            <a:pPr algn="ctr">
              <a:spcBef>
                <a:spcPts val="800"/>
              </a:spcBef>
            </a:pPr>
            <a:r>
              <a:rPr sz="1250" b="0" i="1">
                <a:solidFill>
                  <a:srgbClr val="6B7280"/>
                </a:solidFill>
                <a:latin typeface="Calibri"/>
              </a:rPr>
              <a:t>FMEA-risicomatrix (docs/FMEA/FMEA_Documentatie.md)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2E75B6"/>
                </a:solidFill>
                <a:latin typeface="Calibri"/>
              </a:rPr>
              <a:t>3 · BETROUWBAARHEID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Genomen maatregelen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219456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9436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Circuit breaker — 5 fouten → 2 min pauze per tenant.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Outbox + relay — at-least-once, geen dual-write.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Retry exponential backoff — 5 → 15 min → permanently_failed.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Durable queues + DLX · duplicate guard · watermark/reconciler.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828800"/>
            <a:ext cx="4709160" cy="4206240"/>
          </a:xfrm>
          <a:prstGeom prst="rect">
            <a:avLst/>
          </a:prstGeom>
          <a:solidFill>
            <a:srgbClr val="ECF1F8"/>
          </a:solidFill>
          <a:ln w="15875">
            <a:solidFill>
              <a:srgbClr val="A9C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400" b="1" i="0">
                <a:solidFill>
                  <a:srgbClr val="2E75B6"/>
                </a:solidFill>
                <a:latin typeface="Calibri"/>
              </a:rPr>
              <a:t>RUIMTE VOOR AFBEELDING</a:t>
            </a:r>
          </a:p>
          <a:p>
            <a:pPr algn="ctr">
              <a:spcBef>
                <a:spcPts val="800"/>
              </a:spcBef>
            </a:pPr>
            <a:r>
              <a:rPr sz="1250" b="0" i="1">
                <a:solidFill>
                  <a:srgbClr val="6B7280"/>
                </a:solidFill>
                <a:latin typeface="Calibri"/>
              </a:rPr>
              <a:t>Code: BACKOFF_MINUTES (FailedNotificationRetryJob)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2E75B6"/>
                </a:solidFill>
                <a:latin typeface="Calibri"/>
              </a:rPr>
              <a:t>3 · BETROUWBAARHEID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Performance, monitoring &amp; verbeterstap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219456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9436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166 notificaties/sec · 100% outbox · ~63 ms · opstart 1,95 s.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Realtime Grafana-dashboard live tijdens loadtest.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Verbeterstap (vóór/ná): ON CONFLICT-bugfix.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Resultaat: notification_log van 0 → 518 rijen; fouten 518 → 0.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828800"/>
            <a:ext cx="4709160" cy="4206240"/>
          </a:xfrm>
          <a:prstGeom prst="rect">
            <a:avLst/>
          </a:prstGeom>
          <a:solidFill>
            <a:srgbClr val="ECF1F8"/>
          </a:solidFill>
          <a:ln w="15875">
            <a:solidFill>
              <a:srgbClr val="A9C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400" b="1" i="0">
                <a:solidFill>
                  <a:srgbClr val="2E75B6"/>
                </a:solidFill>
                <a:latin typeface="Calibri"/>
              </a:rPr>
              <a:t>RUIMTE VOOR AFBEELDING</a:t>
            </a:r>
          </a:p>
          <a:p>
            <a:pPr algn="ctr">
              <a:spcBef>
                <a:spcPts val="800"/>
              </a:spcBef>
            </a:pPr>
            <a:r>
              <a:rPr sz="1250" b="0" i="1">
                <a:solidFill>
                  <a:srgbClr val="6B7280"/>
                </a:solidFill>
                <a:latin typeface="Calibri"/>
              </a:rPr>
              <a:t>Grafana onder load + vóór/ná-tabel (PERFORMANCE-RAPPORT §7)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2E75B6"/>
                </a:solidFill>
                <a:latin typeface="Calibri"/>
              </a:rPr>
              <a:t>4 · TESTRESULTATEN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129 geautomatiseerde tests — per soort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219456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9436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Unit — 110 · Security — 9 · Architectuur/contract — 10.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Integratie (Testcontainers) — 3 · Chaos + Performance (scripts).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129 JUnit-tests groen — 0 failures (JDK 24); 132 mét Docker.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Additionele methodieken: security, architectuur, chaos.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828800"/>
            <a:ext cx="4709160" cy="4206240"/>
          </a:xfrm>
          <a:prstGeom prst="rect">
            <a:avLst/>
          </a:prstGeom>
          <a:solidFill>
            <a:srgbClr val="ECF1F8"/>
          </a:solidFill>
          <a:ln w="15875">
            <a:solidFill>
              <a:srgbClr val="A9C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400" b="1" i="0">
                <a:solidFill>
                  <a:srgbClr val="2E75B6"/>
                </a:solidFill>
                <a:latin typeface="Calibri"/>
              </a:rPr>
              <a:t>RUIMTE VOOR AFBEELDING</a:t>
            </a:r>
          </a:p>
          <a:p>
            <a:pPr algn="ctr">
              <a:spcBef>
                <a:spcPts val="800"/>
              </a:spcBef>
            </a:pPr>
            <a:r>
              <a:rPr sz="1250" b="0" i="1">
                <a:solidFill>
                  <a:srgbClr val="6B7280"/>
                </a:solidFill>
                <a:latin typeface="Calibri"/>
              </a:rPr>
              <a:t>Screenshot: 'Tests run: 129, Failures: 0'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2E75B6"/>
                </a:solidFill>
                <a:latin typeface="Calibri"/>
              </a:rPr>
              <a:t>5 · REALISATIEVERANTWOORDING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Ontwikkeltools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219456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9436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IntelliJ &amp; VS Code · Docker Compose (hele stack in één commando).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Postman/Bruno · DBeaver · Git/GitHub (branches, PR's, bord).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Grafana · RabbitMQ UI · Draw.io/Markdown/Mermaid.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Reflecteer op waarde én kosten per tool.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828800"/>
            <a:ext cx="4709160" cy="4206240"/>
          </a:xfrm>
          <a:prstGeom prst="rect">
            <a:avLst/>
          </a:prstGeom>
          <a:solidFill>
            <a:srgbClr val="ECF1F8"/>
          </a:solidFill>
          <a:ln w="15875">
            <a:solidFill>
              <a:srgbClr val="A9C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400" b="1" i="0">
                <a:solidFill>
                  <a:srgbClr val="2E75B6"/>
                </a:solidFill>
                <a:latin typeface="Calibri"/>
              </a:rPr>
              <a:t>RUIMTE VOOR AFBEELDING</a:t>
            </a:r>
          </a:p>
          <a:p>
            <a:pPr algn="ctr">
              <a:spcBef>
                <a:spcPts val="800"/>
              </a:spcBef>
            </a:pPr>
            <a:r>
              <a:rPr sz="1250" b="0" i="1">
                <a:solidFill>
                  <a:srgbClr val="6B7280"/>
                </a:solidFill>
                <a:latin typeface="Calibri"/>
              </a:rPr>
              <a:t>Logo's van de tools (optioneel)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2E75B6"/>
                </a:solidFill>
                <a:latin typeface="Calibri"/>
              </a:rPr>
              <a:t>5 · REALISATIEVERANTWOORDING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AI-tools &amp; zelfredzaamheid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219456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9436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Claude Code: code-generatie, boilerplate, sparring → tijdwinst.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Kosten/risico: iteraties, debugtijd, 'AI-waan' — kritisch blijven.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Zelfredzaamheid: ADR's en FMEA bepaalden wij zélf.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Beveiligingsgrenzen/domeinkeuzes handmatig gecorrigeerd.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828800"/>
            <a:ext cx="4709160" cy="4206240"/>
          </a:xfrm>
          <a:prstGeom prst="rect">
            <a:avLst/>
          </a:prstGeom>
          <a:solidFill>
            <a:srgbClr val="ECF1F8"/>
          </a:solidFill>
          <a:ln w="15875">
            <a:solidFill>
              <a:srgbClr val="A9C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400" b="1" i="0">
                <a:solidFill>
                  <a:srgbClr val="2E75B6"/>
                </a:solidFill>
                <a:latin typeface="Calibri"/>
              </a:rPr>
              <a:t>RUIMTE VOOR AFBEELDING</a:t>
            </a:r>
          </a:p>
          <a:p>
            <a:pPr algn="ctr">
              <a:spcBef>
                <a:spcPts val="800"/>
              </a:spcBef>
            </a:pPr>
            <a:r>
              <a:rPr sz="1250" b="0" i="1">
                <a:solidFill>
                  <a:srgbClr val="6B7280"/>
                </a:solidFill>
                <a:latin typeface="Calibri"/>
              </a:rPr>
              <a:t>Snippet uit realisatielogboek (prompt + correctie)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2E75B6"/>
                </a:solidFill>
                <a:latin typeface="Calibri"/>
              </a:rPr>
              <a:t>6 · DEMONSTRATIE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Live demonstratie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219456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9436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1. Tenant 'amc' (SwiftSend) registreren.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2. Afspraak aanmaken → poller pikt op.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3. Reminders 'pending' tonen in scheduled_notifications.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4. Annuleren → reminders 'cancelled' (FR-1g).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5. Grafana live tijdens loadtest.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828800"/>
            <a:ext cx="4709160" cy="4206240"/>
          </a:xfrm>
          <a:prstGeom prst="rect">
            <a:avLst/>
          </a:prstGeom>
          <a:solidFill>
            <a:srgbClr val="ECF1F8"/>
          </a:solidFill>
          <a:ln w="15875">
            <a:solidFill>
              <a:srgbClr val="A9C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400" b="1" i="0">
                <a:solidFill>
                  <a:srgbClr val="2E75B6"/>
                </a:solidFill>
                <a:latin typeface="Calibri"/>
              </a:rPr>
              <a:t>RUIMTE VOOR AFBEELDING</a:t>
            </a:r>
          </a:p>
          <a:p>
            <a:pPr algn="ctr">
              <a:spcBef>
                <a:spcPts val="800"/>
              </a:spcBef>
            </a:pPr>
            <a:r>
              <a:rPr sz="1250" b="0" i="1">
                <a:solidFill>
                  <a:srgbClr val="6B7280"/>
                </a:solidFill>
                <a:latin typeface="Calibri"/>
              </a:rPr>
              <a:t>Screenshot: reminders 'cancelled' in DB (fallback)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2E75B6"/>
                </a:solidFill>
                <a:latin typeface="Calibri"/>
              </a:rPr>
              <a:t>AFRONDING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Alles aantoonbaar — zelfbeoordeling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219456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9436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23 requirement-ID's → 33 toetsbare detailregels, allemaal aangetoond.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11 ADR's met alternatieven; FMEA gekoppeld aan code + test.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129 tests over 5 methodieken; meetbare vóór/ná-verbetering.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Duurzaam &amp; uitbreidbaar: SOLID + Strategy, contract-test.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828800"/>
            <a:ext cx="4709160" cy="4206240"/>
          </a:xfrm>
          <a:prstGeom prst="rect">
            <a:avLst/>
          </a:prstGeom>
          <a:solidFill>
            <a:srgbClr val="ECF1F8"/>
          </a:solidFill>
          <a:ln w="15875">
            <a:solidFill>
              <a:srgbClr val="A9C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400" b="1" i="0">
                <a:solidFill>
                  <a:srgbClr val="2E75B6"/>
                </a:solidFill>
                <a:latin typeface="Calibri"/>
              </a:rPr>
              <a:t>RUIMTE VOOR AFBEELDING</a:t>
            </a:r>
          </a:p>
          <a:p>
            <a:pPr algn="ctr">
              <a:spcBef>
                <a:spcPts val="800"/>
              </a:spcBef>
            </a:pPr>
            <a:r>
              <a:rPr sz="1250" b="0" i="1">
                <a:solidFill>
                  <a:srgbClr val="6B7280"/>
                </a:solidFill>
                <a:latin typeface="Calibri"/>
              </a:rPr>
              <a:t>Samenvatting traceerbaarheidsmatrix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0"/>
            <a:ext cx="12191695" cy="91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Vragen?</a:t>
            </a:r>
          </a:p>
          <a:p>
            <a:pPr algn="ctr">
              <a:spcBef>
                <a:spcPts val="1400"/>
              </a:spcBef>
            </a:pPr>
            <a:r>
              <a:rPr sz="2000" b="0" i="0">
                <a:solidFill>
                  <a:srgbClr val="C9D6EA"/>
                </a:solidFill>
                <a:latin typeface="Calibri"/>
              </a:rPr>
              <a:t>Bedankt voor jullie aandacht — BeunMRS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